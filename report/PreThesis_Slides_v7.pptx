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6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372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An LLM-powered Application for Detecting Academic Stress Levels in Vietnamese University Students</a:t>
            </a:r>
          </a:p>
          <a:p>
            <a:pPr algn="l">
              <a:spcAft>
                <a:spcPts val="2800"/>
              </a:spcAft>
            </a:pPr>
            <a:r>
              <a:rPr sz="2000" b="0">
                <a:solidFill>
                  <a:srgbClr val="64748B"/>
                </a:solidFill>
                <a:latin typeface="Calibri"/>
              </a:rPr>
              <a:t>A layered screening system: validated instruments, a fine-tuned encoder, and a grounded language model behind a deterministic safety rule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Pre-thesis defence  ·  School of Computer Science and Engineering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International University — VNU-HCM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 screening and self-reflection aid. Not a diagnostic instrument.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Two kinds of tool exist, and each is missing something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Validated questionnaires — DASS-21, PSS-10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Trusted and psychometrically sound.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The student receives a number and nothing else: no explanation, no next step.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General-purpose chatbots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Conversational, and willing to give advice.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Anchored to no instrument, and they invent advice that has no source.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The gap this project addresses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Keep the validated instrument as the authority; let the model explain and suggest, grounded in a curated corpus rather than its own parameters.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In this domain a wrong answer is not a poor user experience. It is potential harm — which is why the architecture is ordered the way the next slide shows.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Five objectives, and where each one actually stands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Psychometric scoring, exact to the manual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Fine-tune a Vietnamese encoder, compare against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Partly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Retrieval-augmented advice + component ablation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Partly 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Crisis detection, quantitatively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Reproducible evaluation — no number without a 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O2 and O3 are only partly met, and this slide says so before the results do. Slide 13 gives the reason: three of five ablation configurations ran; the other two are blocked by a schema defect, not by quota.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Deterministic core, generative periphery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Classifier + scoring (pure)  →  Crisis gate  →  Persist  →  Retrieval  →  Generation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ordering is a safety property, not an engineering convenience.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Everything before the gate is a pure function: it cannot store, send or show anything.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Nothing is written to disk and no external service is called until the gate has cleared.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Scoring is arithmetic and always produces a result; the classifier degrades to the lexicon.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Retrieval and generation are last precisely because they can fail unpredictably.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Read left to right as decreasing reliability AND decreasing authority. The gate is the only component that can pre-empt everything after it — and it costs 0.05 ms.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If generation fails the system returns its deterministic results and says why. It does not return an error, and it does not guess.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figure on the next slide draws this order exactly as the code executes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ARCHITECTURE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37215" cy="3977639"/>
          </a:xfrm>
          <a:prstGeom prst="rect">
            <a:avLst/>
          </a:prstGeom>
          <a:solidFill>
            <a:srgbClr val="F1F5F9"/>
          </a:solidFill>
          <a:ln w="19050">
            <a:solidFill>
              <a:srgbClr val="4F8EF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4748B"/>
                </a:solidFill>
                <a:latin typeface="Calibri"/>
              </a:rPr>
              <a:t>insert fig_1.png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paste the PNG here, then delete this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Left of the gate: pure functions that cannot store, send or show anything. Right of the gate: persistence, retrieval and generation — none of which run until the gate has cleared. Generation is the only external, non-authoritative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Ground truth: a conservative composite of two validated instruments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466 records · frozen split 326 / 70 / 70 · seed 42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How the four-class label is defined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more severe of the DASS-21 stress subscale band and the PSS-10 category, mapped onto Low / Moderate / High / Severe.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Chosen for screening asymmetry: a false alarm costs a student a helpline they did not need; a miss costs a student support they did.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Both source instruments are published and validated — DASS-21 (Lovibond &amp; Lovibond, 1995) and PSS-10 (Cohen et al., 1983), deployed as the original English items.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Stated limitation: the composite itself has not been separately validated as a psychometric scale. It is an operational outcome measure defined for this study, and §5.4 treats it as a construct-validity threat.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The split is frozen and reused everywhere, because the classifier was fine-tuned on its training portion — redrawing it would leak training data into the test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Test distribution — Low 16 · Moderate 23 · High 22 · Severe 9   (Figure 4.2: label distribution)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classifier: PhoBERT, fine-tuned and fully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PhoBERT-base · AdamW, lr 2e-5, 4 epochs, best-epoch selection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Validation macro-F1 0.8403 at epoch 2, then a complete plateau — epochs 3 and 4 add nothing, so epoch 2 is what ships.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Held-out test: accuracy 0.800 / macro-F1 0.8013 on the three-class task.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Two honest notes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is a three-class model. In the unified four-class comparison its F1 on Severe is zero BY CONSTRUCTION, not by failure.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runs entirely offline — no network, no third party. That matters for an application handling private writing about mental health.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Figure 4.3: training and validation curves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safety rule: what it used to do, and what it does 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Held-out set (60 bilingual items)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Explicit ideation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12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Indirect ideation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 /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11 /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False positives (20 lethal-sounding idioms)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The old rule matched fixed phrases. On phrasing it had never seen it scored recall 0.200 — not the 0.500 previously published, which came partly from the test set sharing wording with the lexicon.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Fixing it honestly was harder than fixing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The twelve failures were already published. Adding them to the phrase list would have meant tuning against the test set.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The order is what makes the number mean something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1.  Wrote a NEW 60-item bilingual set and froze it, SHA-256 recorded, before the new rule existed.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2.  Rebuilt the rule around six constructs from suicide-risk assessment, written from that taxonomy rather than from failing items.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3.  Measured once. The first measurement is the one reported.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4.  Demoted the two older sets to DEVELOPMENT sets.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Re-measuring the held-out set afterwards gave IDENTICAL numbers — the development work had no detectable effect on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Limitation: the patterns and the held-out set share a single author. Independent annotation would strengthen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Vietnamese perfect score (1.000/1.000) is a DEVELOPMENT number and is deliberately not the headline.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SAFETY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the safety rule was rebuilt — the order, made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37215" cy="3977639"/>
          </a:xfrm>
          <a:prstGeom prst="rect">
            <a:avLst/>
          </a:prstGeom>
          <a:solidFill>
            <a:srgbClr val="F1F5F9"/>
          </a:solidFill>
          <a:ln w="19050">
            <a:solidFill>
              <a:srgbClr val="4F8EF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4748B"/>
                </a:solidFill>
                <a:latin typeface="Calibri"/>
              </a:rPr>
              <a:t>insert fig_3.png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paste the PNG here, then delete this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Held-out set written and frozen (SHA-256 recorded) before the new rule existed; patterns derived from six clinical constructs, not from failing items; measured once; the older sets demoted to development sets. Re-measuring afterwards gave identical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What stops the model inventing mental-health advice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Three mechanisms, in increasing order of strength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prompt rule is absolute: the model may rephrase the retrieved material, but may not add advice, techniques, services or phone numbers that are not in it — even if it believes them true.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Every suggestion cites the chunk it came from, by id. The service checks those citations against what was actually retrieved and DISCARDS any the model invented.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If retrieval returns nothing, the generator is not called at all. The system says advice is unavailable rather than filling the gap from its own parameters.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That last one is the difference between a grounded system and a system that merely prefers to be grounded.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Corpus: 23 curated chunks, multilingual embeddings, k =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Main results — one frozen split, unified four-class label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Majority class (floor)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0.3286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0.1237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TF-IDF +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0.6857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0.6816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TF-IDF +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PhoBERT, fine-tuned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LLM zero-shot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0.5286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0.5238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Proposed (full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0.4857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n = 70 · single seed · synthetic data · openai/gpt-oss-120b via Groq · every system clean (0 unusable responses). The classical baseline wins, and slide 16 explains why that is a statement about the DATA rather than about transformers.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RAG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measurement that changed the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Query construction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Recall@1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Matched lexicon keywords only  (original)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The student's own sentence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Sentence + keywords  (current)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0.719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57 hand-labelled queries · overall MRR 0.787, Recall@5 0.903. The original code threw the student's sentence away and searched on matched keywords; appending the questionnaire label hurt every variant tested. The shape was chosen by running six candidates through the harness, not by intuition.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Latency: the safety check is effectively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DASS-21 + PSS-10 scoring     0.03 ms  (p50)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Crisis rule                          0.05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Lexicon keyword match         0.07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RAG retrieval, k = 4              28.0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PhoBERT inference                59.3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The entire deterministic pipeline costs under 90 ms at the median.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Running the safety gate before any side effect — before persistence and before the external call — costs 0.05 ms. There is no performance argument against that ordering.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Cold start is ≈ 21 s for both models, paid once per process, which is why the API loads them lazily rather than in the startup hook. Generation latency and token cost are not measured: each sample is a billable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Thirty runs per stage, CPU only. Figure 4.9: per-stage latency, p50 to p95.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Why these numbers can be trusted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337 tests, all passing · 94 % coverage on the application code (70 % once the offline evaluation scripts are included) · CI runs lint and the full suite.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Frozen split · seeded generation · model responses cached by input hash, so a repeated evaluation makes zero API calls and returns identical results.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matters for a research artefact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No number in the report exists without a script that produced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Where nothing was measured, the tooling writes an explicit "NOT RUN" marker rather than letting a gap look like a zero.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That discipline paying for itself, twice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Failed model responses used to be counted and discarded; they are now kept and classified. The next run recorded 32 failures — 31 rate-limit refusals and ONE malformed JSON. The report's earlier "seven invalid JSON" claim was never evidence-based and has been corrected.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All five flagged references were checked against publisher and ACL Anthology records; eight now carry a DOI. Two were wrong and are corrected — the third author of [4], the author list of [12].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limitation that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All text is generated from 41 Vietnamese sentence templates.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The standard leakage control passes perfectly: 466 distinct texts, ZERO duplicates across splits.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That control is the wrong instrument here. Nearest-neighbour similarity of each test item to its closest training item: median 0.799, and 34 of 70 test items exceed 0.80 — under three different similarity measures.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So the model is not being asked to detect stress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is being asked to recognise templates it has already seen in a slightly different arrangement. Every text-classification figure in this project is a pipeline demonstration, not evidence of stress-detection ability.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It is also the honest explanation for why TF-IDF wins on slide 12: a bag of n-grams is exceptionally good at recognising recurring surface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Reproduce with: python scripts/check_leakage.py — it prints the closest train/test pairs verbatim so the measure can be judged rather than trusted.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Contributions,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this work contributes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layered screening system in which the deterministic, trustworthy components run first and can pre-empt the generative ones.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Crisis-detection evaluation sets in both languages, measured without tuning against them, with every error published verbatim.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demonstration that exact-duplicate checking is inadequate for template-generated corpora, with the measurement to prove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harness in which a missing measurement LOOKS missing.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it does not yet have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Real participants — zero. The ablation, blocked on provider quota rather than on code. Faithfulness judging. Confidence intervals.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That gap is the difference between demonstrating a pipeline and demonstrating stress detection. It is where the thesis goes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FUSION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Where the headline label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37215" cy="3977639"/>
          </a:xfrm>
          <a:prstGeom prst="rect">
            <a:avLst/>
          </a:prstGeom>
          <a:solidFill>
            <a:srgbClr val="F1F5F9"/>
          </a:solidFill>
          <a:ln w="19050">
            <a:solidFill>
              <a:srgbClr val="4F8EF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4748B"/>
                </a:solidFill>
                <a:latin typeface="Calibri"/>
              </a:rPr>
              <a:t>insert fig_2.png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paste the PNG here, then delete this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The validated instrument owns the headline: the more severe of the DASS-21 stress band and the PSS-10 category. The model reads the same evidence and gives its own reading; where the two differ, the student is told so explicitly rather than the difference being hidden.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2400E"/>
                </a:solidFill>
                <a:latin typeface="Calibri"/>
              </a:rPr>
              <a:t>BACKUP — for Q&amp;A, not part of the timed talk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ABLATION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Ablation: what each component is actually worth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Δ vs full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no_questionnaire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−0.411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no_emotion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0.593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+0.059  (inside noise)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no_rag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schema defect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text_only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schema defect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n = 40, stratified, seed 42 · noise floor ±0.148 (95 % Wilson). Removing the questionnaire collapses the system to the majority floor (0.1237) — the 0.500 it scores on slide 12 comes from being shown the scores that define the label, not from reading text. The no_emotion delta is inside the noise floor, so no direction is claimed. BACKUP — promote after slide 12 if time allows.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REPRODUCIBILITY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Evidence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37215" cy="3977639"/>
          </a:xfrm>
          <a:prstGeom prst="rect">
            <a:avLst/>
          </a:prstGeom>
          <a:solidFill>
            <a:srgbClr val="F1F5F9"/>
          </a:solidFill>
          <a:ln w="19050">
            <a:solidFill>
              <a:srgbClr val="4F8EF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4748B"/>
                </a:solidFill>
                <a:latin typeface="Calibri"/>
              </a:rPr>
              <a:t>insert fig_4.png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paste the PNG here, then delete this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Every number on a slide traces to a committed source file, the script that consumed it, and the artefact it wrote. Where a measurement has not been made, the artefact is an explicit NOT RUN marker rather than an empty cell that could be mistaken for a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2400E"/>
                </a:solidFill>
                <a:latin typeface="Calibri"/>
              </a:rPr>
              <a:t>BACKUP — for Q&amp;A, not part of the timed talk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